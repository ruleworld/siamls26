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00c27e36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00c27e36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00c27e3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00c27e3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00c27e36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00c27e3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00c27e3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00c27e3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00c27e36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00c27e36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00c27e3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00c27e3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00c27e36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00c27e36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lHEHdQW3a3oDtPzOldBNm_LlNjNohZu2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60650" l="35815" r="0" t="0"/>
          <a:stretch/>
        </p:blipFill>
        <p:spPr>
          <a:xfrm>
            <a:off x="-3960525" y="336173"/>
            <a:ext cx="11100749" cy="567017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</a:t>
            </a:r>
            <a:r>
              <a:rPr lang="en"/>
              <a:t> to BioNetGen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 </a:t>
            </a:r>
            <a:r>
              <a:rPr lang="en"/>
              <a:t>SIAMLS26</a:t>
            </a:r>
            <a:r>
              <a:rPr lang="en"/>
              <a:t>!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600" y="3216100"/>
            <a:ext cx="1927400" cy="19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112550" y="1608050"/>
            <a:ext cx="4291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SPEAKERS: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/>
            </a:br>
            <a:r>
              <a:rPr lang="en" sz="1800"/>
              <a:t>Jim Faeder PhD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Laura Strube PhD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Alex DiBiasi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Achyudhan Kutuva</a:t>
            </a:r>
            <a:endParaRPr sz="1800"/>
          </a:p>
        </p:txBody>
      </p:sp>
      <p:sp>
        <p:nvSpPr>
          <p:cNvPr id="58" name="Google Shape;58;p13"/>
          <p:cNvSpPr txBox="1"/>
          <p:nvPr/>
        </p:nvSpPr>
        <p:spPr>
          <a:xfrm>
            <a:off x="7211000" y="2477200"/>
            <a:ext cx="19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Follow along on the GitHub!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74" y="907301"/>
            <a:ext cx="7760000" cy="423618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Bivalency turns a 3-reaction network into an unbounded one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7378" y="1739537"/>
            <a:ext cx="3601499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485" y="1069325"/>
            <a:ext cx="6337028" cy="375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NFsim sidesteps network generation by tracking species on the fly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692400" y="4728000"/>
            <a:ext cx="545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Sneddon, Faeder &amp; Emonet, Nat. Methods 8, 177–183 (2011)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575" y="445025"/>
            <a:ext cx="1192354" cy="52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LAT, Grb2, and SOS crosslink into combinatorially many aggregate states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908600" y="4728000"/>
            <a:ext cx="6235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Nag, Monine, Faeder &amp; Goldstein, Biophys. J. 96(7), 2604–2623 (2009)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588" y="1752337"/>
            <a:ext cx="3985925" cy="25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0" l="2894" r="0" t="0"/>
          <a:stretch/>
        </p:blipFill>
        <p:spPr>
          <a:xfrm>
            <a:off x="4531263" y="2003723"/>
            <a:ext cx="3943150" cy="20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738950" y="4190650"/>
            <a:ext cx="56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T-cell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88" y="1080125"/>
            <a:ext cx="509463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NFsim species file can extract cluster sizes for LAT complex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b="0" l="2894" r="0" t="0"/>
          <a:stretch/>
        </p:blipFill>
        <p:spPr>
          <a:xfrm>
            <a:off x="4889138" y="2110698"/>
            <a:ext cx="3943150" cy="201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every ribosome collision makes a fixed network impossible at any mRNA length</a:t>
            </a:r>
            <a:endParaRPr/>
          </a:p>
        </p:txBody>
      </p:sp>
      <p:pic>
        <p:nvPicPr>
          <p:cNvPr id="95" name="Google Shape;95;p18" title="movie (2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8950" y="1379200"/>
            <a:ext cx="6106100" cy="28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2234900" y="4728000"/>
            <a:ext cx="690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Bottorff, Park, Geballe &amp; Subramaniam, PLoS Genet. 18(10): e1010460 (2022)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050" y="930200"/>
            <a:ext cx="7002024" cy="2852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WEBNG runs weighted ensemble of BioNetGen models</a:t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1" y="3274034"/>
            <a:ext cx="1373100" cy="345300"/>
          </a:xfrm>
          <a:prstGeom prst="rect">
            <a:avLst/>
          </a:prstGeom>
          <a:solidFill>
            <a:srgbClr val="6D9EEB"/>
          </a:solidFill>
          <a:ln cap="flat" cmpd="sng" w="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81"/>
              <a:t>RULE BASED MODEL</a:t>
            </a:r>
            <a:endParaRPr sz="88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81"/>
              <a:t>CONSTRUCTION</a:t>
            </a:r>
            <a:endParaRPr sz="881"/>
          </a:p>
        </p:txBody>
      </p:sp>
      <p:sp>
        <p:nvSpPr>
          <p:cNvPr id="104" name="Google Shape;104;p19"/>
          <p:cNvSpPr/>
          <p:nvPr/>
        </p:nvSpPr>
        <p:spPr>
          <a:xfrm>
            <a:off x="1" y="3964496"/>
            <a:ext cx="1373100" cy="1179000"/>
          </a:xfrm>
          <a:prstGeom prst="rect">
            <a:avLst/>
          </a:prstGeom>
          <a:solidFill>
            <a:srgbClr val="6D9EEB"/>
          </a:solidFill>
          <a:ln cap="flat" cmpd="sng" w="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105" name="Google Shape;105;p19"/>
          <p:cNvSpPr/>
          <p:nvPr/>
        </p:nvSpPr>
        <p:spPr>
          <a:xfrm>
            <a:off x="1" y="3619265"/>
            <a:ext cx="1373100" cy="345300"/>
          </a:xfrm>
          <a:prstGeom prst="rect">
            <a:avLst/>
          </a:prstGeom>
          <a:solidFill>
            <a:srgbClr val="6D9EEB"/>
          </a:solidFill>
          <a:ln cap="flat" cmpd="sng" w="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1"/>
              <a:t>BioNetGen</a:t>
            </a:r>
            <a:endParaRPr sz="961"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37" y="4068531"/>
            <a:ext cx="1144160" cy="953467"/>
          </a:xfrm>
          <a:prstGeom prst="rect">
            <a:avLst/>
          </a:prstGeom>
          <a:solidFill>
            <a:srgbClr val="6D9EEB"/>
          </a:solidFill>
          <a:ln>
            <a:noFill/>
          </a:ln>
        </p:spPr>
      </p:pic>
      <p:cxnSp>
        <p:nvCxnSpPr>
          <p:cNvPr id="107" name="Google Shape;107;p19"/>
          <p:cNvCxnSpPr/>
          <p:nvPr/>
        </p:nvCxnSpPr>
        <p:spPr>
          <a:xfrm>
            <a:off x="1418980" y="4229304"/>
            <a:ext cx="570600" cy="0"/>
          </a:xfrm>
          <a:prstGeom prst="straightConnector1">
            <a:avLst/>
          </a:prstGeom>
          <a:noFill/>
          <a:ln cap="flat" cmpd="sng" w="305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9"/>
          <p:cNvSpPr/>
          <p:nvPr/>
        </p:nvSpPr>
        <p:spPr>
          <a:xfrm>
            <a:off x="2035304" y="3274034"/>
            <a:ext cx="1373100" cy="345300"/>
          </a:xfrm>
          <a:prstGeom prst="rect">
            <a:avLst/>
          </a:prstGeom>
          <a:solidFill>
            <a:srgbClr val="E06666"/>
          </a:solidFill>
          <a:ln cap="flat" cmpd="sng" w="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1"/>
              <a:t>RARE EVENT SAMPLING</a:t>
            </a:r>
            <a:endParaRPr sz="961"/>
          </a:p>
        </p:txBody>
      </p:sp>
      <p:sp>
        <p:nvSpPr>
          <p:cNvPr id="109" name="Google Shape;109;p19"/>
          <p:cNvSpPr/>
          <p:nvPr/>
        </p:nvSpPr>
        <p:spPr>
          <a:xfrm>
            <a:off x="2035304" y="3964496"/>
            <a:ext cx="1373100" cy="1179000"/>
          </a:xfrm>
          <a:prstGeom prst="rect">
            <a:avLst/>
          </a:prstGeom>
          <a:solidFill>
            <a:srgbClr val="E06666"/>
          </a:solidFill>
          <a:ln cap="flat" cmpd="sng" w="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110" name="Google Shape;110;p19"/>
          <p:cNvSpPr/>
          <p:nvPr/>
        </p:nvSpPr>
        <p:spPr>
          <a:xfrm>
            <a:off x="2035304" y="3619265"/>
            <a:ext cx="1373100" cy="345300"/>
          </a:xfrm>
          <a:prstGeom prst="rect">
            <a:avLst/>
          </a:prstGeom>
          <a:solidFill>
            <a:srgbClr val="E06666"/>
          </a:solidFill>
          <a:ln cap="flat" cmpd="sng" w="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1"/>
              <a:t>WESTPA</a:t>
            </a:r>
            <a:endParaRPr sz="961"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3404" y="4003015"/>
            <a:ext cx="1084520" cy="1084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4900425" y="4497000"/>
            <a:ext cx="424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Adapted from Donovan, Sedgewick, Faeder &amp; Zuckerman, J. Chem. Phys. 139, 115105 (2013)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